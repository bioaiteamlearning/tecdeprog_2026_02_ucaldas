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a Sans Semi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Funnel Sans" panose="020B0604020202020204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09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78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4630400" cy="8232147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23003"/>
            <a:ext cx="63604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Pilas y Colas en Python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171944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Estructuras de Datos Fundamentales</a:t>
            </a:r>
            <a:endParaRPr lang="en-US" sz="61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2146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28869"/>
            <a:ext cx="73327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¿Por qué son importantes?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2477810"/>
            <a:ext cx="3664744" cy="2410897"/>
          </a:xfrm>
          <a:prstGeom prst="roundRect">
            <a:avLst>
              <a:gd name="adj" fmla="val 3952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712244"/>
            <a:ext cx="28876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Estructuras de Datos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028224" y="3202662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Son formas organizadas de almacenar y manipular información en memoria de manera eficiente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685348" y="2477810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2712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Pilas y Colas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919782" y="3202662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Estructuras fundamentales que controlan el orden de acceso a los datos según reglas específicas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5115520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349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En la Programación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8224" y="584037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Esenciales para algoritmos, gestión de memoria, sistemas operativos y aplicaciones cotidianas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05" y="0"/>
            <a:ext cx="1007524" cy="10462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214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Pilas (Stacks)</a:t>
            </a:r>
            <a:endParaRPr lang="en-US" sz="40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Principio LIFO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Last In, First Out</a:t>
            </a: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El último elemento que entra es el primero en salir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21638" y="310026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Como una pila de platos: solo puedes tomar el de arriba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21638" y="3615690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push(): agregar elemento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21638" y="4017764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pop(): remover elemento superior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21638" y="4419838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peek(): ver elemento superior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21638" y="482191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isEmpty(): verificar si está vacía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2146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0"/>
            <a:ext cx="603504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2105" y="1187960"/>
            <a:ext cx="7820978" cy="118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Implementación de Pilas en Python</a:t>
            </a:r>
            <a:endParaRPr lang="en-US" sz="3700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661511" y="1984534"/>
            <a:ext cx="7820978" cy="5726906"/>
          </a:xfrm>
          <a:prstGeom prst="roundRect">
            <a:avLst>
              <a:gd name="adj" fmla="val 1386"/>
            </a:avLst>
          </a:prstGeom>
          <a:solidFill>
            <a:srgbClr val="252323"/>
          </a:solidFill>
          <a:ln/>
        </p:spPr>
      </p:sp>
      <p:sp>
        <p:nvSpPr>
          <p:cNvPr id="5" name="Shape 2"/>
          <p:cNvSpPr/>
          <p:nvPr/>
        </p:nvSpPr>
        <p:spPr>
          <a:xfrm>
            <a:off x="652105" y="1984534"/>
            <a:ext cx="7839789" cy="5726906"/>
          </a:xfrm>
          <a:prstGeom prst="roundRect">
            <a:avLst>
              <a:gd name="adj" fmla="val 495"/>
            </a:avLst>
          </a:prstGeom>
          <a:solidFill>
            <a:srgbClr val="252323"/>
          </a:solidFill>
          <a:ln/>
        </p:spPr>
      </p:sp>
      <p:sp>
        <p:nvSpPr>
          <p:cNvPr id="6" name="Text 3"/>
          <p:cNvSpPr/>
          <p:nvPr/>
        </p:nvSpPr>
        <p:spPr>
          <a:xfrm>
            <a:off x="841058" y="2126218"/>
            <a:ext cx="7461885" cy="5443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Implementación básica </a:t>
            </a:r>
            <a:r>
              <a:rPr lang="en-US" sz="2000" dirty="0" err="1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usando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listas</a:t>
            </a:r>
            <a:endParaRPr lang="en-US" sz="2000" dirty="0" smtClean="0">
              <a:solidFill>
                <a:schemeClr val="bg1"/>
              </a:solidFill>
              <a:highlight>
                <a:srgbClr val="252323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pila 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 []# Push: </a:t>
            </a:r>
            <a:r>
              <a:rPr lang="en-US" sz="2000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agregar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elementos</a:t>
            </a:r>
            <a:endParaRPr lang="en-US" sz="2000" dirty="0" smtClean="0">
              <a:solidFill>
                <a:schemeClr val="bg1"/>
              </a:solidFill>
              <a:highlight>
                <a:srgbClr val="252323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pila.append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(10)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pila.append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(20)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pila.append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(30)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print(pila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# [10, 20, 30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Pop: remover </a:t>
            </a:r>
            <a:r>
              <a:rPr lang="en-US" sz="2000" dirty="0" err="1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elemento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superior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elemento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2000" dirty="0" err="1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pila.pop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2000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elemento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# 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print(pila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# [10, 20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Peek: ver elemento superior sin 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remover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pila: </a:t>
            </a:r>
            <a:endParaRPr lang="en-US" sz="2000" dirty="0" smtClean="0">
              <a:solidFill>
                <a:schemeClr val="bg1"/>
              </a:solidFill>
              <a:highlight>
                <a:srgbClr val="252323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2000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print(pila</a:t>
            </a:r>
            <a:r>
              <a:rPr lang="en-US" sz="200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[-1]) # 20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05" y="0"/>
            <a:ext cx="1007524" cy="10462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214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2318742"/>
            <a:ext cx="67010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Aplicaciones de las Pilas</a:t>
            </a:r>
            <a:endParaRPr lang="en-US" sz="4450" dirty="0">
              <a:solidFill>
                <a:schemeClr val="bg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481149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Deshacer/Rehacer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8220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Editores de texto y aplicaciones guardan estados anteriores para poder revertir cambios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893" y="3481149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331613"/>
            <a:ext cx="36500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Evaluación de Expresiones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5235893" y="48220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Calculadoras procesan operaciones matemáticas respetando precedencia de operadores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995" y="348114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Recorrido de Grafos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9677995" y="48220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Algoritmos DFS (Depth-First Search) utilizan pilas para explorar estructuras de datos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214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21638" y="566976"/>
            <a:ext cx="5155168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Colas (Queues)</a:t>
            </a:r>
            <a:endParaRPr lang="en-US" sz="40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2577584" cy="322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Principio FIFO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21638" y="2254925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First In, First Out</a:t>
            </a: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- El primer elemento que entra es el primero en salir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21638" y="3100268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Como una fila en el supermercado: el primero en llegar es el primero en ser atendido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21638" y="3945612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enqueue(): agregar al final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21638" y="4347686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dequeue(): remover del frente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21638" y="4749760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front(): ver primer elemento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21638" y="5151834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isEmpty(): verificar si está vacía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280" y="1752481"/>
            <a:ext cx="6342102" cy="63421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214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05" y="0"/>
            <a:ext cx="1007524" cy="1046276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387" y="906066"/>
            <a:ext cx="7667506" cy="550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Implementación de Colas en Python</a:t>
            </a:r>
            <a:endParaRPr lang="en-US" sz="3450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616387" y="1572935"/>
            <a:ext cx="7911227" cy="5898118"/>
          </a:xfrm>
          <a:prstGeom prst="roundRect">
            <a:avLst>
              <a:gd name="adj" fmla="val 1254"/>
            </a:avLst>
          </a:prstGeom>
          <a:solidFill>
            <a:srgbClr val="252323"/>
          </a:solidFill>
          <a:ln/>
        </p:spPr>
      </p:sp>
      <p:sp>
        <p:nvSpPr>
          <p:cNvPr id="5" name="Shape 2"/>
          <p:cNvSpPr/>
          <p:nvPr/>
        </p:nvSpPr>
        <p:spPr>
          <a:xfrm>
            <a:off x="607695" y="1572935"/>
            <a:ext cx="7928610" cy="5898118"/>
          </a:xfrm>
          <a:prstGeom prst="roundRect">
            <a:avLst>
              <a:gd name="adj" fmla="val 448"/>
            </a:avLst>
          </a:prstGeom>
          <a:solidFill>
            <a:srgbClr val="252323"/>
          </a:solidFill>
          <a:ln/>
        </p:spPr>
      </p:sp>
      <p:sp>
        <p:nvSpPr>
          <p:cNvPr id="6" name="Text 3"/>
          <p:cNvSpPr/>
          <p:nvPr/>
        </p:nvSpPr>
        <p:spPr>
          <a:xfrm>
            <a:off x="783788" y="1704975"/>
            <a:ext cx="7576423" cy="563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deque# Implementación eficiente con </a:t>
            </a:r>
            <a:r>
              <a:rPr lang="en-US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endParaRPr lang="en-US" dirty="0" smtClean="0">
              <a:solidFill>
                <a:schemeClr val="bg1"/>
              </a:solidFill>
              <a:highlight>
                <a:srgbClr val="252323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cola 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 deque()# Enqueue: agregar elementos al </a:t>
            </a: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cola.append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("Cliente A</a:t>
            </a: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cola.append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("Cliente B</a:t>
            </a: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cola.append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("Cliente C</a:t>
            </a: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print(cola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endParaRPr lang="en-US" dirty="0" smtClean="0">
              <a:solidFill>
                <a:schemeClr val="bg1"/>
              </a:solidFill>
              <a:highlight>
                <a:srgbClr val="252323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'Cliente A', 'Cliente B', 'Cliente C'])# Dequeue: remover del </a:t>
            </a:r>
            <a:r>
              <a:rPr lang="en-US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frente</a:t>
            </a:r>
            <a:endParaRPr lang="en-US" dirty="0" smtClean="0">
              <a:solidFill>
                <a:schemeClr val="bg1"/>
              </a:solidFill>
              <a:highlight>
                <a:srgbClr val="252323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siguiente</a:t>
            </a: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cola.popleft</a:t>
            </a: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siguiente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# </a:t>
            </a:r>
            <a:r>
              <a:rPr lang="en-US" dirty="0" err="1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print(cola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# </a:t>
            </a:r>
            <a:r>
              <a:rPr lang="en-US" dirty="0" err="1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endParaRPr lang="en-US" dirty="0" smtClean="0">
              <a:solidFill>
                <a:schemeClr val="bg1"/>
              </a:solidFill>
              <a:highlight>
                <a:srgbClr val="252323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'Cliente B', 'Cliente C'])# Front: ver primer </a:t>
            </a: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cola: </a:t>
            </a:r>
            <a:endParaRPr lang="en-US" dirty="0" smtClean="0">
              <a:solidFill>
                <a:schemeClr val="bg1"/>
              </a:solidFill>
              <a:highlight>
                <a:srgbClr val="252323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dirty="0" smtClean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print(cola[0</a:t>
            </a:r>
            <a:r>
              <a:rPr lang="en-US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]) # Cliente B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214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4860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Variantes de Colas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648426"/>
            <a:ext cx="6407944" cy="4095155"/>
          </a:xfrm>
          <a:prstGeom prst="roundRect">
            <a:avLst>
              <a:gd name="adj" fmla="val 2326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678906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404040"/>
          </a:solidFill>
          <a:ln/>
        </p:spPr>
      </p:sp>
      <p:sp>
        <p:nvSpPr>
          <p:cNvPr id="5" name="Text 3"/>
          <p:cNvSpPr/>
          <p:nvPr/>
        </p:nvSpPr>
        <p:spPr>
          <a:xfrm>
            <a:off x="3827621" y="280261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1</a:t>
            </a:r>
            <a:endParaRPr lang="en-US" sz="265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084" y="3586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Deque (Cola Doble)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084" y="4076581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Permite insertar y eliminar elementos desde ambos extremos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051084" y="5057537"/>
            <a:ext cx="5893356" cy="1428750"/>
          </a:xfrm>
          <a:prstGeom prst="roundRect">
            <a:avLst>
              <a:gd name="adj" fmla="val 6668"/>
            </a:avLst>
          </a:prstGeom>
          <a:solidFill>
            <a:srgbClr val="252323"/>
          </a:solidFill>
          <a:ln/>
        </p:spPr>
      </p:sp>
      <p:sp>
        <p:nvSpPr>
          <p:cNvPr id="9" name="Shape 7"/>
          <p:cNvSpPr/>
          <p:nvPr/>
        </p:nvSpPr>
        <p:spPr>
          <a:xfrm>
            <a:off x="1039773" y="5057537"/>
            <a:ext cx="5915978" cy="1428750"/>
          </a:xfrm>
          <a:prstGeom prst="roundRect">
            <a:avLst>
              <a:gd name="adj" fmla="val 2381"/>
            </a:avLst>
          </a:prstGeom>
          <a:solidFill>
            <a:srgbClr val="252323"/>
          </a:solidFill>
          <a:ln/>
        </p:spPr>
      </p:sp>
      <p:sp>
        <p:nvSpPr>
          <p:cNvPr id="10" name="Text 8"/>
          <p:cNvSpPr/>
          <p:nvPr/>
        </p:nvSpPr>
        <p:spPr>
          <a:xfrm>
            <a:off x="1266587" y="5227558"/>
            <a:ext cx="546234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dequed = deque([1,2,3])d.appendleft(0)  # [0,1,2,3]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28548" y="2648426"/>
            <a:ext cx="6408063" cy="4095155"/>
          </a:xfrm>
          <a:prstGeom prst="roundRect">
            <a:avLst>
              <a:gd name="adj" fmla="val 2326"/>
            </a:avLst>
          </a:prstGeom>
          <a:solidFill>
            <a:srgbClr val="181616">
              <a:alpha val="95000"/>
            </a:srgbClr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9027" y="2678906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404040"/>
          </a:solidFill>
          <a:ln/>
        </p:spPr>
      </p:sp>
      <p:sp>
        <p:nvSpPr>
          <p:cNvPr id="13" name="Text 11"/>
          <p:cNvSpPr/>
          <p:nvPr/>
        </p:nvSpPr>
        <p:spPr>
          <a:xfrm>
            <a:off x="10462498" y="280261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2</a:t>
            </a:r>
            <a:endParaRPr lang="en-US" sz="265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5842" y="3586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Cola de Prioridad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5842" y="4076581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Los elementos se procesan según su prioridad, no por orden de llegada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85842" y="5057537"/>
            <a:ext cx="5893475" cy="1428750"/>
          </a:xfrm>
          <a:prstGeom prst="roundRect">
            <a:avLst>
              <a:gd name="adj" fmla="val 6668"/>
            </a:avLst>
          </a:prstGeom>
          <a:solidFill>
            <a:srgbClr val="252323"/>
          </a:solidFill>
          <a:ln/>
        </p:spPr>
      </p:sp>
      <p:sp>
        <p:nvSpPr>
          <p:cNvPr id="17" name="Shape 15"/>
          <p:cNvSpPr/>
          <p:nvPr/>
        </p:nvSpPr>
        <p:spPr>
          <a:xfrm>
            <a:off x="7674531" y="5057537"/>
            <a:ext cx="5916097" cy="1428750"/>
          </a:xfrm>
          <a:prstGeom prst="roundRect">
            <a:avLst>
              <a:gd name="adj" fmla="val 2381"/>
            </a:avLst>
          </a:prstGeom>
          <a:solidFill>
            <a:srgbClr val="252323"/>
          </a:solidFill>
          <a:ln/>
        </p:spPr>
      </p:sp>
      <p:sp>
        <p:nvSpPr>
          <p:cNvPr id="18" name="Text 16"/>
          <p:cNvSpPr/>
          <p:nvPr/>
        </p:nvSpPr>
        <p:spPr>
          <a:xfrm>
            <a:off x="7901345" y="5227558"/>
            <a:ext cx="54624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highlight>
                  <a:srgbClr val="2523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heapqheap = [3,1,4,1,5]heapq.heapify(heap)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214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1574959"/>
            <a:ext cx="77857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Pilas vs Colas: Comparación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37366"/>
            <a:ext cx="13042821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4498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88869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Característica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940379" y="288869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Pila (Stack)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499997" y="288869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Cola (Queue)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01410" y="339530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53901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Principio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940379" y="353901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LIFO (Last In, First Out)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499997" y="353901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FIFO (First In, First Out)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1410" y="404562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18933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Inserción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40379" y="418933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Solo en la cima (push)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9499997" y="418933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Solo al final (enqueue)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1410" y="469594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83965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Eliminación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40379" y="483965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Solo desde la cima (pop)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99997" y="483965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Solo desde el frente (dequeue)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1410" y="534626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548997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Aplicaciones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40379" y="548997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Deshacer, recursión, expresiones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499997" y="548997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Procesos, turnos, BFS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01410" y="599658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343" y="6140291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40379" y="6140291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list.append() / list.pop()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99997" y="6140291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deque.append() / deque.popleft()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2146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55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Puntos Clave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24444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2322314"/>
            <a:ext cx="38221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Estructuras Fundamentales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017306" y="2812733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Pilas y colas son base para algoritmos complejos y sistemas de software modernos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280190" y="39921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17306" y="40700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Eficiencia en Python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017306" y="456045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Usa listas para pilas y collections.deque para colas para mejor rendimiento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0190" y="57398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7306" y="58177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Aplicaciones Reales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017306" y="630816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Desde navegadores web hasta sistemas operativos, estas estructuras están en todas partes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580</Words>
  <Application>Microsoft Office PowerPoint</Application>
  <PresentationFormat>Personalizado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Mona Sans Semi Bold</vt:lpstr>
      <vt:lpstr>Calibri</vt:lpstr>
      <vt:lpstr>Funnel Sans</vt:lpstr>
      <vt:lpstr>Consolas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Familiar</cp:lastModifiedBy>
  <cp:revision>3</cp:revision>
  <dcterms:created xsi:type="dcterms:W3CDTF">2025-09-22T02:06:51Z</dcterms:created>
  <dcterms:modified xsi:type="dcterms:W3CDTF">2025-09-22T02:17:32Z</dcterms:modified>
</cp:coreProperties>
</file>